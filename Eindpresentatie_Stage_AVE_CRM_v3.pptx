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Eindpresentatie Stage AVE CRM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Van Legacy naar SaaS: Professionalisering van Recruitment Software</a:t>
            </a:r>
          </a:p>
          <a:p/>
          <a:p>
            <a:r>
              <a:t>Stijn van der Neut</a:t>
            </a:r>
          </a:p>
          <a:p>
            <a:r>
              <a:t>19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Situatieschets &amp; Aanleiding</a:t>
            </a:r>
          </a:p>
          <a:p>
            <a:pPr/>
            <a:r>
              <a:t>Opdracht, Scope &amp; Tijdsframe</a:t>
            </a:r>
          </a:p>
          <a:p>
            <a:pPr/>
            <a:r>
              <a:t>Probleemstelling</a:t>
            </a:r>
          </a:p>
          <a:p>
            <a:pPr/>
            <a:r>
              <a:t>Onderzoek (Build vs Buy)</a:t>
            </a:r>
          </a:p>
          <a:p>
            <a:pPr/>
            <a:r>
              <a:t>De Oplossing (Tech Stack)</a:t>
            </a:r>
          </a:p>
          <a:p>
            <a:pPr/>
            <a:r>
              <a:t>Diepgang: Multi-Tenancy</a:t>
            </a:r>
          </a:p>
          <a:p>
            <a:pPr/>
            <a:r>
              <a:t>Diepgang: AI Bulk Import</a:t>
            </a:r>
          </a:p>
          <a:p>
            <a:pPr/>
            <a:r>
              <a:t>Persoonlijke Ontwikkeling</a:t>
            </a:r>
          </a:p>
          <a:p>
            <a:pPr/>
            <a:r>
              <a:t>Toekomstvisie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Situatieschets &amp; Aanleiding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Organisatie:</a:t>
            </a:r>
          </a:p>
          <a:p>
            <a:pPr lvl="1"/>
            <a:r>
              <a:t>AVE Consultancy: Headhuntingbureau met groeiambitie.</a:t>
            </a:r>
          </a:p>
          <a:p>
            <a:pPr/>
            <a:r>
              <a:t>Oude Situatie:</a:t>
            </a:r>
          </a:p>
          <a:p>
            <a:pPr lvl="1"/>
            <a:r>
              <a:t>Versnipperde data in Dropbox mappen.</a:t>
            </a:r>
          </a:p>
          <a:p>
            <a:pPr lvl="1"/>
            <a:r>
              <a:t>Klantgegevens in losse Excel sheets.</a:t>
            </a:r>
          </a:p>
          <a:p>
            <a:pPr lvl="1"/>
            <a:r>
              <a:t>Communicatie in individuele mailboxen.</a:t>
            </a:r>
          </a:p>
          <a:p>
            <a:pPr/>
            <a:r>
              <a:t>Het Gevolg:</a:t>
            </a:r>
          </a:p>
          <a:p>
            <a:pPr lvl="1"/>
            <a:r>
              <a:t>Geen centraal inzicht.</a:t>
            </a:r>
          </a:p>
          <a:p>
            <a:pPr lvl="1"/>
            <a:r>
              <a:t>Tijdrovende zoektochten naar informatie.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Opdracht, Scope &amp; Tijdsframe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De Opdracht:</a:t>
            </a:r>
          </a:p>
          <a:p>
            <a:pPr lvl="1"/>
            <a:r>
              <a:t>Ontwikkel een toekomstbestendige fundering.</a:t>
            </a:r>
          </a:p>
          <a:p>
            <a:pPr lvl="1"/>
            <a:r>
              <a:t>Doel: SaaS-platform (Software as a Service).</a:t>
            </a:r>
          </a:p>
          <a:p>
            <a:pPr/>
            <a:r>
              <a:t>Tijdsframe:</a:t>
            </a:r>
          </a:p>
          <a:p>
            <a:pPr lvl="1"/>
            <a:r>
              <a:t>20 weken (September - Januari).</a:t>
            </a:r>
          </a:p>
          <a:p>
            <a:pPr/>
            <a:r>
              <a:t>Scope (MVP):</a:t>
            </a:r>
          </a:p>
          <a:p>
            <a:pPr lvl="1"/>
            <a:r>
              <a:t>Focus op Relatiebeheer (CRM).</a:t>
            </a:r>
          </a:p>
          <a:p>
            <a:pPr lvl="1"/>
            <a:r>
              <a:t>Kandidaten, Klanten en Opdrachten.</a:t>
            </a:r>
          </a:p>
          <a:p>
            <a:pPr lvl="1"/>
            <a:r>
              <a:t>Out-of-scope: Facturatie &amp; Mobile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Probleemstelling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Inefficiëntie:</a:t>
            </a:r>
          </a:p>
          <a:p>
            <a:pPr lvl="1"/>
            <a:r>
              <a:t>Handmatige verwerking kost dagen.</a:t>
            </a:r>
          </a:p>
          <a:p>
            <a:pPr/>
            <a:r>
              <a:t>2. Risico (GDPR/AVG):</a:t>
            </a:r>
          </a:p>
          <a:p>
            <a:pPr lvl="1"/>
            <a:r>
              <a:t>Excel-lijsten mailen is onveilig.</a:t>
            </a:r>
          </a:p>
          <a:p>
            <a:pPr lvl="1"/>
            <a:r>
              <a:t>Persoonsgegevens verspreid over laptops.</a:t>
            </a:r>
          </a:p>
          <a:p>
            <a:pPr/>
            <a:r>
              <a:t>3. Gebrek aan Inzicht:</a:t>
            </a:r>
          </a:p>
          <a:p>
            <a:pPr lvl="1"/>
            <a:r>
              <a:t>Geen relaties in data.</a:t>
            </a:r>
          </a:p>
          <a:p>
            <a:pPr lvl="1"/>
            <a:r>
              <a:t>Niet kunnen sturen op cijfers.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Onderzoek: Build vs Buy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Optie A: Enterprise (Bullhorn/Salesforce)</a:t>
            </a:r>
          </a:p>
          <a:p>
            <a:pPr lvl="1"/>
            <a:r>
              <a:t>Extreem duur &amp; complex voor start-up.</a:t>
            </a:r>
          </a:p>
          <a:p>
            <a:pPr lvl="1"/>
            <a:r>
              <a:t>Lange implementatietijd.</a:t>
            </a:r>
          </a:p>
          <a:p>
            <a:pPr/>
            <a:r>
              <a:t>Optie B: HR Software (Recruitee)</a:t>
            </a:r>
          </a:p>
          <a:p>
            <a:pPr lvl="1"/>
            <a:r>
              <a:t>Gericht op HR-afdelingen, niet op bureaus.</a:t>
            </a:r>
          </a:p>
          <a:p>
            <a:pPr lvl="1"/>
            <a:r>
              <a:t>Mist 'makelaarsfunctie' (Kandidaat &lt;-&gt; Klant).</a:t>
            </a:r>
          </a:p>
          <a:p>
            <a:pPr/>
            <a:r>
              <a:t>Conclusie (Gap-analyse):</a:t>
            </a:r>
          </a:p>
          <a:p>
            <a:pPr lvl="1"/>
            <a:r>
              <a:t>Maatwerk is noodzakelijk.</a:t>
            </a:r>
          </a:p>
          <a:p>
            <a:pPr lvl="1"/>
            <a:r>
              <a:t>Eigendom van data &amp; proces is cruciaal.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Oplossing: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Backend:</a:t>
            </a:r>
          </a:p>
          <a:p>
            <a:pPr lvl="1"/>
            <a:r>
              <a:t>Laravel 12 (PHP) - Wereldwijde standaard, veilig &amp; stabiel.</a:t>
            </a:r>
          </a:p>
          <a:p>
            <a:pPr/>
            <a:r>
              <a:t>Frontend:</a:t>
            </a:r>
          </a:p>
          <a:p>
            <a:pPr lvl="1"/>
            <a:r>
              <a:t>React 19 - Snel, modern, 'app-gevoel'.</a:t>
            </a:r>
          </a:p>
          <a:p>
            <a:pPr/>
            <a:r>
              <a:t>Storage:</a:t>
            </a:r>
          </a:p>
          <a:p>
            <a:pPr lvl="1"/>
            <a:r>
              <a:t>Cloudflare R2 - Veilige, goedkope opslag voor CV's.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Diepgang: Multi-Tenancy (Veiligheid)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Vraag:</a:t>
            </a:r>
          </a:p>
          <a:p>
            <a:pPr lvl="1"/>
            <a:r>
              <a:t>Hoe scheiden we data van verschillende klanten?</a:t>
            </a:r>
          </a:p>
          <a:p>
            <a:pPr/>
            <a:r>
              <a:t>Strategie: Database-per-Tenant</a:t>
            </a:r>
          </a:p>
          <a:p>
            <a:pPr lvl="1"/>
            <a:r>
              <a:t>Fysiek gescheiden databases per klant.</a:t>
            </a:r>
          </a:p>
          <a:p>
            <a:pPr lvl="1"/>
            <a:r>
              <a:t>100% Data-isolatie.</a:t>
            </a:r>
          </a:p>
          <a:p>
            <a:pPr/>
            <a:r>
              <a:t>Werking:</a:t>
            </a:r>
          </a:p>
          <a:p>
            <a:pPr lvl="1"/>
            <a:r>
              <a:t>Domein (klant.avecrm.nl) bepaalt de database.</a:t>
            </a:r>
          </a:p>
          <a:p>
            <a:pPr lvl="1"/>
            <a:r>
              <a:t>Veiligheid 'by design' (fouten in code lekken geen data).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Diepgang: AI Bulk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Uitdaging:</a:t>
            </a:r>
          </a:p>
          <a:p>
            <a:pPr lvl="1"/>
            <a:r>
              <a:t>3500+ Oude CV's digitaliseren.</a:t>
            </a:r>
          </a:p>
          <a:p>
            <a:pPr/>
            <a:r>
              <a:t>Oplossing:</a:t>
            </a:r>
          </a:p>
          <a:p>
            <a:pPr lvl="1"/>
            <a:r>
              <a:t>Google Gemini 3 Pro Pipeline.</a:t>
            </a:r>
          </a:p>
          <a:p>
            <a:pPr/>
            <a:r>
              <a:t>Proces:</a:t>
            </a:r>
          </a:p>
          <a:p>
            <a:pPr lvl="1"/>
            <a:r>
              <a:t>1. Upload PDF -&gt; 2. AI Leest &amp; Begrijpt -&gt; 3. Opslaan in Database.</a:t>
            </a:r>
          </a:p>
          <a:p>
            <a:pPr/>
            <a:r>
              <a:t>Resultaat:</a:t>
            </a:r>
          </a:p>
          <a:p>
            <a:pPr lvl="1"/>
            <a:r>
              <a:t>Van 15 min/CV naar secondenwerk.</a:t>
            </a:r>
          </a:p>
          <a:p>
            <a:pPr lvl="1"/>
            <a:r>
              <a:t>Direct doorzoekbare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Reflectie: Veerkracht &amp; Eerlijkheid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De Tegenslag:</a:t>
            </a:r>
          </a:p>
          <a:p>
            <a:pPr lvl="1"/>
            <a:r>
              <a:t>Sprint 4: Dataverlies door crash &amp; geen backups.</a:t>
            </a:r>
          </a:p>
          <a:p>
            <a:pPr lvl="1"/>
            <a:r>
              <a:t>Eerste reactie: Paniek &amp; terugtrekken ('Oestergedrag').</a:t>
            </a:r>
          </a:p>
          <a:p>
            <a:pPr/>
            <a:r>
              <a:t>Het Herstel:</a:t>
            </a:r>
          </a:p>
          <a:p>
            <a:pPr lvl="1"/>
            <a:r>
              <a:t>Eerlijk opgebiecht aan begeleider.</a:t>
            </a:r>
          </a:p>
          <a:p>
            <a:pPr lvl="1"/>
            <a:r>
              <a:t>Direct Automated Backup script gebouwd.</a:t>
            </a:r>
          </a:p>
          <a:p>
            <a:pPr/>
            <a:r>
              <a:t>De Les:</a:t>
            </a:r>
          </a:p>
          <a:p>
            <a:pPr lvl="1"/>
            <a:r>
              <a:t>Fouten maken mag, verzwijgen niet.</a:t>
            </a:r>
          </a:p>
          <a:p>
            <a:pPr lvl="1"/>
            <a:r>
              <a:t>Transparantie bouwt vertrouwen.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Reflectie: Van Student naar Professional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Start:</a:t>
            </a:r>
          </a:p>
          <a:p>
            <a:pPr lvl="1"/>
            <a:r>
              <a:t>Afwachtend: 'Wat moet ik doen?'</a:t>
            </a:r>
          </a:p>
          <a:p>
            <a:pPr/>
            <a:r>
              <a:t>Nu:</a:t>
            </a:r>
          </a:p>
          <a:p>
            <a:pPr lvl="1"/>
            <a:r>
              <a:t>Proactief: 'Hier is het plan voor de migratie'.</a:t>
            </a:r>
          </a:p>
          <a:p>
            <a:pPr lvl="1"/>
            <a:r>
              <a:t>Zelfstandig meetings &amp; planning beheerd.</a:t>
            </a:r>
          </a:p>
          <a:p>
            <a:pPr/>
            <a:r>
              <a:t>Rol:</a:t>
            </a:r>
          </a:p>
          <a:p>
            <a:pPr lvl="1"/>
            <a:r>
              <a:t>Strategisch Partner (Adviseur &amp; Bouwer).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Toekomstvisie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Nu:</a:t>
            </a:r>
          </a:p>
          <a:p>
            <a:pPr lvl="1"/>
            <a:r>
              <a:t>Livegang MVP &amp; Interne 'Dogfooding'.</a:t>
            </a:r>
          </a:p>
          <a:p>
            <a:pPr/>
            <a:r>
              <a:t>Binnenkort:</a:t>
            </a:r>
          </a:p>
          <a:p>
            <a:pPr lvl="1"/>
            <a:r>
              <a:t>Outlook Agenda Integratie (Microsoft Graph).</a:t>
            </a:r>
          </a:p>
          <a:p>
            <a:pPr/>
            <a:r>
              <a:t>Lange termijn:</a:t>
            </a:r>
          </a:p>
          <a:p>
            <a:pPr lvl="1"/>
            <a:r>
              <a:t>Commercialisering naar andere bureaus (SaaS).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Resultaat:</a:t>
            </a:r>
          </a:p>
          <a:p>
            <a:pPr/>
            <a:r>
              <a:t>Van analoge chaos naar digitaal fundament.</a:t>
            </a:r>
          </a:p>
          <a:p>
            <a:pPr/>
            <a:r>
              <a:t>Veilig, schaalbaar &amp; slim (AI).</a:t>
            </a:r>
          </a:p>
          <a:p>
            <a:pPr/>
            <a:r>
              <a:t>Bewezen groei als professional.</a:t>
            </a:r>
          </a:p>
          <a:p>
            <a:pPr/>
          </a:p>
          <a:p>
            <a:pPr/>
            <a:r>
              <a:t>Bedankt voor uw aandacht. Zijn er nog vragen?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