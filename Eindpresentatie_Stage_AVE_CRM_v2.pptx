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Eindpresentatie Stage AVE CRM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Van Legacy naar SaaS: Professionalisering van Recruitment Software</a:t>
            </a:r>
          </a:p>
          <a:p/>
          <a:p>
            <a:r>
              <a:t>Stijn van der Neut</a:t>
            </a:r>
          </a:p>
          <a:p>
            <a:r>
              <a:t>19 Januari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Situatieschets &amp; Aanleiding</a:t>
            </a:r>
          </a:p>
          <a:p>
            <a:pPr/>
            <a:r>
              <a:t>Opdracht, Scope &amp; Tijdsframe</a:t>
            </a:r>
          </a:p>
          <a:p>
            <a:pPr/>
            <a:r>
              <a:t>Probleemstelling</a:t>
            </a:r>
          </a:p>
          <a:p>
            <a:pPr/>
            <a:r>
              <a:t>Onderzoek (Concurrentie &amp; Architectuur)</a:t>
            </a:r>
          </a:p>
          <a:p>
            <a:pPr/>
            <a:r>
              <a:t>De Oplossing (Software Architectuur)</a:t>
            </a:r>
          </a:p>
          <a:p>
            <a:pPr/>
            <a:r>
              <a:t>Technische Diepgang (Multi-Tenancy &amp; AI)</a:t>
            </a:r>
          </a:p>
          <a:p>
            <a:pPr/>
            <a:r>
              <a:t>Persoonlijke Ontwikkeling &amp; Reflectie</a:t>
            </a:r>
          </a:p>
          <a:p>
            <a:pPr/>
            <a:r>
              <a:t>Toekomstvisie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Situatieschets &amp; Aanleiding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Organisatie:</a:t>
            </a:r>
          </a:p>
          <a:p>
            <a:pPr lvl="1"/>
            <a:r>
              <a:t>AVE Consultancy (Adriaan van Essen).</a:t>
            </a:r>
          </a:p>
          <a:p>
            <a:pPr lvl="1"/>
            <a:r>
              <a:t>Headhuntingbureau met groeiambitie.</a:t>
            </a:r>
          </a:p>
          <a:p>
            <a:pPr/>
            <a:r>
              <a:t>Oude Situatie ('Legacy'):</a:t>
            </a:r>
          </a:p>
          <a:p>
            <a:pPr lvl="1"/>
            <a:r>
              <a:t>Versnipperd landschap: Excel lijsten, Dropbox mappen, losse e-mails.</a:t>
            </a:r>
          </a:p>
          <a:p>
            <a:pPr lvl="1"/>
            <a:r>
              <a:t>Geen centraal inzicht in relaties (Kandidaat &lt;-&gt; Klant &lt;-&gt; Opdracht).</a:t>
            </a:r>
          </a:p>
          <a:p>
            <a:pPr/>
            <a:r>
              <a:t>Aanleiding:</a:t>
            </a:r>
          </a:p>
          <a:p>
            <a:pPr lvl="1"/>
            <a:r>
              <a:t>Behoefte aan professionalisering, schaalbaarheid en veiligheid.</a:t>
            </a:r>
          </a:p>
          <a:p>
            <a:pPr lvl="1"/>
            <a:r>
              <a:t>Wens om bedrijf overdraagbaar/verkoopbaar te maken.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Opdracht, Scope &amp; Tijdsframe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De Opdracht:</a:t>
            </a:r>
          </a:p>
          <a:p>
            <a:pPr lvl="1"/>
            <a:r>
              <a:t>Ontwikkel een modern, veilig SaaS CRM-platform (MVP).</a:t>
            </a:r>
          </a:p>
          <a:p>
            <a:pPr lvl="1"/>
            <a:r>
              <a:t>Vervanging van Excel/Dropbox workflow.</a:t>
            </a:r>
          </a:p>
          <a:p>
            <a:pPr/>
            <a:r>
              <a:t>Tijdsframe:</a:t>
            </a:r>
          </a:p>
          <a:p>
            <a:pPr lvl="1"/>
            <a:r>
              <a:t>September 2025 - Januari 2026 (20 weken).</a:t>
            </a:r>
          </a:p>
          <a:p>
            <a:pPr/>
            <a:r>
              <a:t>In Scope:</a:t>
            </a:r>
          </a:p>
          <a:p>
            <a:pPr lvl="1"/>
            <a:r>
              <a:t>Relatiebeheer (Kandidaten, Klanten, Opdrachten).</a:t>
            </a:r>
          </a:p>
          <a:p>
            <a:pPr lvl="1"/>
            <a:r>
              <a:t>Documentbeheer (CV's in Cloudflare R2).</a:t>
            </a:r>
          </a:p>
          <a:p>
            <a:pPr lvl="1"/>
            <a:r>
              <a:t>AI-ondersteuning (Bulk import).</a:t>
            </a:r>
          </a:p>
          <a:p>
            <a:pPr lvl="1"/>
            <a:r>
              <a:t>Multi-tenancy fundament.</a:t>
            </a:r>
          </a:p>
          <a:p>
            <a:pPr/>
            <a:r>
              <a:t>Out of Scope:</a:t>
            </a:r>
          </a:p>
          <a:p>
            <a:pPr lvl="1"/>
            <a:r>
              <a:t>Financiële module (facturatie).</a:t>
            </a:r>
          </a:p>
          <a:p>
            <a:pPr lvl="1"/>
            <a:r>
              <a:t>Native Mobile App.</a:t>
            </a:r>
          </a:p>
          <a:p>
            <a:pPr lvl="1"/>
            <a:r>
              <a:t>LinkedIn Scraper (juridisch grijs gebied).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Probleemstelling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Business Probleem:</a:t>
            </a:r>
          </a:p>
          <a:p>
            <a:pPr lvl="1"/>
            <a:r>
              <a:t>Inefficiëntie: Handmatige data-entry kost uren per week.</a:t>
            </a:r>
          </a:p>
          <a:p>
            <a:pPr lvl="1"/>
            <a:r>
              <a:t>Foutgevoeligheid: Versiebeheer in Excel/Dropbox is complex.</a:t>
            </a:r>
          </a:p>
          <a:p>
            <a:pPr lvl="1"/>
            <a:r>
              <a:t>Risico: Datalekken door onveilige opslag persoonsgegevens.</a:t>
            </a:r>
          </a:p>
          <a:p>
            <a:pPr/>
            <a:r>
              <a:t>Technisch Probleem:</a:t>
            </a:r>
          </a:p>
          <a:p>
            <a:pPr lvl="1"/>
            <a:r>
              <a:t>Geen datamodel dat relaties ondersteunt.</a:t>
            </a:r>
          </a:p>
          <a:p>
            <a:pPr lvl="1"/>
            <a:r>
              <a:t>Geen scheiding van data tussen potentiële klanten (SaaS eis).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Onderzoek: Waarom Maatwerk?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Marktanalyse (DSR):</a:t>
            </a:r>
          </a:p>
          <a:p>
            <a:pPr lvl="1"/>
            <a:r>
              <a:t>Vergelijking met Bullhorn, Salesforce, Recruitee.</a:t>
            </a:r>
          </a:p>
          <a:p>
            <a:pPr/>
            <a:r>
              <a:t>Gap Analyse:</a:t>
            </a:r>
          </a:p>
          <a:p>
            <a:pPr lvl="1"/>
            <a:r>
              <a:t>Enterprise tools (Bullhorn): Te duur en complex.</a:t>
            </a:r>
          </a:p>
          <a:p>
            <a:pPr lvl="1"/>
            <a:r>
              <a:t>MKB tools (Recruitee): Focus op HR, niet op bureau-bemiddeling.</a:t>
            </a:r>
          </a:p>
          <a:p>
            <a:pPr lvl="1"/>
            <a:r>
              <a:t>Excel/Dropbox: Onveilig en niet schaalbaar.</a:t>
            </a:r>
          </a:p>
          <a:p>
            <a:pPr/>
            <a:r>
              <a:t>Conclusie:</a:t>
            </a:r>
          </a:p>
          <a:p>
            <a:pPr lvl="1"/>
            <a:r>
              <a:t>Maatwerk is vereist voor de specifieke 'Bureau-workflow' + SaaS ambitie.</a:t>
            </a:r>
          </a:p>
          <a:p>
            <a:pPr/>
            <a:r>
              <a:t>Frontend Architectuur:</a:t>
            </a:r>
          </a:p>
          <a:p>
            <a:pPr lvl="1"/>
            <a:r>
              <a:t>Onderzoek naar State Management (TanStack Query vs SWR) voor optimale performance.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 Oplossing: Modern SaaS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Backend:</a:t>
            </a:r>
          </a:p>
          <a:p>
            <a:pPr lvl="1"/>
            <a:r>
              <a:t>Laravel 12 (PHP 8.3) - Robuust framework.</a:t>
            </a:r>
          </a:p>
          <a:p>
            <a:pPr lvl="1"/>
            <a:r>
              <a:t>PostgreSQL - Betrouwbare relationele database.</a:t>
            </a:r>
          </a:p>
          <a:p>
            <a:pPr/>
            <a:r>
              <a:t>Frontend:</a:t>
            </a:r>
          </a:p>
          <a:p>
            <a:pPr lvl="1"/>
            <a:r>
              <a:t>React 19 + TypeScript - Moderne, type-safe UI.</a:t>
            </a:r>
          </a:p>
          <a:p>
            <a:pPr lvl="1"/>
            <a:r>
              <a:t>Material-UI - Consistente User Experience.</a:t>
            </a:r>
          </a:p>
          <a:p>
            <a:pPr/>
            <a:r>
              <a:t>Infrastructuur:</a:t>
            </a:r>
          </a:p>
          <a:p>
            <a:pPr lvl="1"/>
            <a:r>
              <a:t>Docker Containers - Consistentie in development/productie.</a:t>
            </a:r>
          </a:p>
          <a:p>
            <a:pPr lvl="1"/>
            <a:r>
              <a:t>Cloudflare R2 - Veilige, goedkope opslag voor CV's.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Diepgang: Multi-Tenancy (GDPR)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Eis:</a:t>
            </a:r>
          </a:p>
          <a:p>
            <a:pPr lvl="1"/>
            <a:r>
              <a:t>Strikte scheiding van data per klant (Tenant).</a:t>
            </a:r>
          </a:p>
          <a:p>
            <a:pPr/>
            <a:r>
              <a:t>Strategie: Database-per-Tenant</a:t>
            </a:r>
          </a:p>
          <a:p>
            <a:pPr lvl="1"/>
            <a:r>
              <a:t>Iedere klant heeft een eigen fysieke database.</a:t>
            </a:r>
          </a:p>
          <a:p>
            <a:pPr lvl="1"/>
            <a:r>
              <a:t>Maximale veiligheid: Data 'lekken' is technisch onmogelijk.</a:t>
            </a:r>
          </a:p>
          <a:p>
            <a:pPr/>
            <a:r>
              <a:t>Implementatie:</a:t>
            </a:r>
          </a:p>
          <a:p>
            <a:pPr lvl="1"/>
            <a:r>
              <a:t>Laravel Middleware detecteert subdomein (klant.avecrm.nl).</a:t>
            </a:r>
          </a:p>
          <a:p>
            <a:pPr lvl="1"/>
            <a:r>
              <a:t>Automatische switch van database connectie.</a:t>
            </a:r>
          </a:p>
          <a:p>
            <a:pPr lvl="1"/>
            <a:r>
              <a:t>Gebruik van ULID's (onvoorspelbare ID's) voor extra veiligheid.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Diepgang: AI-Driven Bulk Import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Probleem:</a:t>
            </a:r>
          </a:p>
          <a:p>
            <a:pPr lvl="1"/>
            <a:r>
              <a:t>3500+ CV's in mappenstructuur moeten naar het CRM.</a:t>
            </a:r>
          </a:p>
          <a:p>
            <a:pPr/>
            <a:r>
              <a:t>Oplossing:</a:t>
            </a:r>
          </a:p>
          <a:p>
            <a:pPr lvl="1"/>
            <a:r>
              <a:t>Geautomatiseerde import pipeline met Google Gemini 3 Pro.</a:t>
            </a:r>
          </a:p>
          <a:p>
            <a:pPr/>
            <a:r>
              <a:t>Proces:</a:t>
            </a:r>
          </a:p>
          <a:p>
            <a:pPr lvl="1"/>
            <a:r>
              <a:t>1. Frontend uploadt bestanden in 'chunks'.</a:t>
            </a:r>
          </a:p>
          <a:p>
            <a:pPr lvl="1"/>
            <a:r>
              <a:t>2. Queue Worker pakt bestand op.</a:t>
            </a:r>
          </a:p>
          <a:p>
            <a:pPr lvl="1"/>
            <a:r>
              <a:t>3. AI analyseert tekst en extraheert gestructureerde data (Skills, Opleiding).</a:t>
            </a:r>
          </a:p>
          <a:p>
            <a:pPr lvl="1"/>
            <a:r>
              <a:t>4. Data wordt opgeslagen en bestand gearchiveerd.</a:t>
            </a:r>
          </a:p>
          <a:p>
            <a:pPr/>
            <a:r>
              <a:t>Resultaat:</a:t>
            </a:r>
          </a:p>
          <a:p>
            <a:pPr lvl="1"/>
            <a:r>
              <a:t>Maanden werk gereduceerd tot enkele uren verwerkingstijd.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Persoonlijke Ontwikkeling: Veerkracht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Situatie (Sprint 3-4):</a:t>
            </a:r>
          </a:p>
          <a:p>
            <a:pPr lvl="1"/>
            <a:r>
              <a:t>Dataverlies door reset virtual drive (geen backup).</a:t>
            </a:r>
          </a:p>
          <a:p>
            <a:pPr lvl="1"/>
            <a:r>
              <a:t>Neiging tot 'oestergedrag' (terugtrekken bij tegenslag).</a:t>
            </a:r>
          </a:p>
          <a:p>
            <a:pPr/>
            <a:r>
              <a:t>Actie &amp; Herstel:</a:t>
            </a:r>
          </a:p>
          <a:p>
            <a:pPr lvl="1"/>
            <a:r>
              <a:t>Directe oplossing: Automated Daily Backups script geschreven.</a:t>
            </a:r>
          </a:p>
          <a:p>
            <a:pPr lvl="1"/>
            <a:r>
              <a:t>Communicatie: Transparant geweest naar begeleider over de fout.</a:t>
            </a:r>
          </a:p>
          <a:p>
            <a:pPr/>
            <a:r>
              <a:t>Leermoment:</a:t>
            </a:r>
          </a:p>
          <a:p>
            <a:pPr lvl="1"/>
            <a:r>
              <a:t>Fouten maken mag, zolang je communiceert en oplost.</a:t>
            </a:r>
          </a:p>
          <a:p>
            <a:pPr lvl="1"/>
            <a:r>
              <a:t>Van reactief ('brandjes blussen') naar proactief (preventie).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Persoonlijke Ontwikkeling: Professionaliteit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Startniveau:</a:t>
            </a:r>
          </a:p>
          <a:p>
            <a:pPr lvl="1"/>
            <a:r>
              <a:t>Afwachtend, onzeker over planning en deadlines.</a:t>
            </a:r>
          </a:p>
          <a:p>
            <a:pPr/>
            <a:r>
              <a:t>Groei:</a:t>
            </a:r>
          </a:p>
          <a:p>
            <a:pPr lvl="1"/>
            <a:r>
              <a:t>Initiatief genomen voor wekelijkse voortgangsmeetings.</a:t>
            </a:r>
          </a:p>
          <a:p>
            <a:pPr lvl="1"/>
            <a:r>
              <a:t>Zelfstandig de roadmap en backlog beheerd (Jira/Trello).</a:t>
            </a:r>
          </a:p>
          <a:p>
            <a:pPr/>
            <a:r>
              <a:t>Feedback Begeleider:</a:t>
            </a:r>
          </a:p>
          <a:p>
            <a:pPr lvl="1"/>
            <a:r>
              <a:t>'Presentaties verbeterd van onvoldoende naar goed niveau.'</a:t>
            </a:r>
          </a:p>
          <a:p>
            <a:pPr lvl="1"/>
            <a:r>
              <a:t>'Rol gepakt als strategisch partner ipv alleen uitvoerder.'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Toekomstvisie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Korte Termijn (Q1 2026):</a:t>
            </a:r>
          </a:p>
          <a:p>
            <a:pPr lvl="1"/>
            <a:r>
              <a:t>Livegang MVP.</a:t>
            </a:r>
          </a:p>
          <a:p>
            <a:pPr lvl="1"/>
            <a:r>
              <a:t>Outlook Agenda integratie (Microsoft Graph).</a:t>
            </a:r>
          </a:p>
          <a:p>
            <a:pPr/>
            <a:r>
              <a:t>Middellange Termijn:</a:t>
            </a:r>
          </a:p>
          <a:p>
            <a:pPr lvl="1"/>
            <a:r>
              <a:t>Interne validatie: 'Eat your own dog food'.</a:t>
            </a:r>
          </a:p>
          <a:p>
            <a:pPr lvl="1"/>
            <a:r>
              <a:t>Onderzoek naar LinkedIn scraping (binnen juridische kaders).</a:t>
            </a:r>
          </a:p>
          <a:p>
            <a:pPr/>
            <a:r>
              <a:t>Lange Termijn:</a:t>
            </a:r>
          </a:p>
          <a:p>
            <a:pPr lvl="1"/>
            <a:r>
              <a:t>Commercialisering als White-label SaaS voor andere bureaus.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Product:</a:t>
            </a:r>
          </a:p>
          <a:p>
            <a:pPr/>
            <a:r>
              <a:t>Een veilig, schaalbaar fundament voor de toekomst van AVE.</a:t>
            </a:r>
          </a:p>
          <a:p>
            <a:pPr/>
            <a:r>
              <a:t>Proces:</a:t>
            </a:r>
          </a:p>
          <a:p>
            <a:pPr/>
            <a:r>
              <a:t>Van informele opdracht naar gestructureerd DSR &amp; Scrum traject.</a:t>
            </a:r>
          </a:p>
          <a:p>
            <a:pPr/>
            <a:r>
              <a:t>Persoonlijk:</a:t>
            </a:r>
          </a:p>
          <a:p>
            <a:pPr/>
            <a:r>
              <a:t>Bewezen HBO-competenties: Analyseren, Ontwerpen, Realiseren én Managen.</a:t>
            </a:r>
          </a:p>
          <a:p>
            <a:pPr/>
          </a:p>
          <a:p>
            <a:pPr/>
            <a:r>
              <a:t>Bedankt voor uw aandacht. Zijn er nog vragen?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